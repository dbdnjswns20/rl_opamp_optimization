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261" r:id="rId2"/>
    <p:sldId id="473" r:id="rId3"/>
    <p:sldId id="472" r:id="rId4"/>
    <p:sldId id="471" r:id="rId5"/>
    <p:sldId id="474" r:id="rId6"/>
    <p:sldId id="475" r:id="rId7"/>
    <p:sldId id="477" r:id="rId8"/>
    <p:sldId id="476" r:id="rId9"/>
    <p:sldId id="478" r:id="rId10"/>
    <p:sldId id="479" r:id="rId11"/>
    <p:sldId id="482" r:id="rId12"/>
    <p:sldId id="483" r:id="rId13"/>
    <p:sldId id="484" r:id="rId14"/>
    <p:sldId id="488" r:id="rId15"/>
    <p:sldId id="480" r:id="rId16"/>
    <p:sldId id="481" r:id="rId17"/>
  </p:sldIdLst>
  <p:sldSz cx="12192000" cy="6858000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8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DDE1"/>
    <a:srgbClr val="83CBEB"/>
    <a:srgbClr val="86E592"/>
    <a:srgbClr val="84E291"/>
    <a:srgbClr val="0066FF"/>
    <a:srgbClr val="B5F0FF"/>
    <a:srgbClr val="F7A7AB"/>
    <a:srgbClr val="5AB2EF"/>
    <a:srgbClr val="F5F5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49" autoAdjust="0"/>
    <p:restoredTop sz="85697" autoAdjust="0"/>
  </p:normalViewPr>
  <p:slideViewPr>
    <p:cSldViewPr showGuides="1">
      <p:cViewPr varScale="1">
        <p:scale>
          <a:sx n="58" d="100"/>
          <a:sy n="58" d="100"/>
        </p:scale>
        <p:origin x="56" y="8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134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3438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740C9C0-C0BA-4A08-9B4F-8D6F5F3418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293AE09-5BD6-4D44-AC85-25218682C1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AD55C821-FB2F-4BF5-9E06-A688D3749CC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DC12FB5B-C0A5-4688-87C3-9199ED90DF0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A8CF39F7-DE21-469E-9083-5A582F586CB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A437AE6-5FED-41C3-9B29-9328C52551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BD9AC84-9406-4344-9063-1F2EEA75252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A3C8B658-1597-4297-81DA-55AD4C32C56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7713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1A838617-99B8-40A5-94E8-DCCC8F08A10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3F6E4547-8056-4CE6-A847-D7999147D6F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6E89CA11-711E-4FFF-9216-25E96E587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5" rIns="91432" bIns="45715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8BC2979B-352C-461A-A2C0-B69E06B0329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C2FA0984-4C23-4D55-9401-4456FEEC9C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66F325DA-BE17-4F4C-87BF-5550037F9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10464EAE-B0AD-465F-8C7D-202D0B84C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15963" indent="-274638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01725" indent="-219075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543050" indent="-219075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984375" indent="-219075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441575" indent="-219075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898775" indent="-219075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355975" indent="-219075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13175" indent="-219075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fld id="{DC570D1E-3208-4092-AE2E-2294FF1AE159}" type="slidenum">
              <a:rPr lang="en-US" altLang="ko-KR" sz="1200" smtClean="0">
                <a:latin typeface="굴림" panose="020B0600000101010101" pitchFamily="50" charset="-127"/>
              </a:rPr>
              <a:pPr/>
              <a:t>1</a:t>
            </a:fld>
            <a:endParaRPr lang="en-US" altLang="ko-KR" sz="1200">
              <a:latin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D401D-510A-970D-8CBE-7117AE20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39BBAE-9BE3-2AC0-92FF-085D5949A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A8C291-D3E9-AA28-3394-E47399193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2B59-875D-5868-9360-EC3362CBC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10740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E854-AC13-3C1E-8B42-EF898F9F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339756-6000-1909-B376-4B0400456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A62C4-E7CF-0F9A-D0B1-37B6A2369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8003CA-5AB1-D49E-B2D0-990782A1D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1871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CB35-024D-C6EA-A947-A93B8435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24ADA6-FC21-61FE-BEBC-DCAC6544F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CC5952-0145-144F-C26A-EA3DD405F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E1E403-8A8C-9288-9091-7ED9351FE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691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A7C1-A2A3-131F-7494-7BB315E86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F8ED3C-A7E5-89FC-371E-E90E00856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3F756A-4DE8-0E9F-E581-8BE24CC56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411F66-4F3C-FB47-5956-499F1F41C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9504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059D-C9E9-56AA-ACB3-F542D957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A8A449-8070-D430-98B2-618091CDA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C25A51-CE90-544F-01A3-305D53078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043F7-C33E-7B2E-4A75-9C897E6CA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1651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068C-BA89-228A-0D4B-84859D37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DEECC5-1897-D700-36F5-9953C597A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CE12DE-9FB5-C54C-2551-B2E521A4D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9C11C9-3152-F20A-1E17-B5E7BA85E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74324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0A2E-B606-68A0-5D12-9398B9E3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661E22-8CF4-0579-FBF0-D002A0885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717A8-BE91-FDEA-DA24-476578CB4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CB26B-41BA-E2B3-652F-223B39B42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7097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29EDF-D2C1-359C-6873-12964C80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3CBFC3-CE90-856F-44DA-15EFF1B25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C4D59F-ADE7-73BF-EEE3-0CDDE41C4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85F11-76E7-515A-DC24-42FFA28BB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928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A4BF-5D87-F8CA-B459-AF9BEE69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975A6E-83FA-1C55-5FE5-B8E61E498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1E3C29-BEA1-B503-7488-3DE9FB16D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650404-246F-8ADA-DECE-89725EA7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14099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4A7E-CB73-ACD0-98C8-9F883352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8BCEE1-FF69-0A41-C93A-EF1124DA0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88700D-D2B7-1BF4-9E05-34B608BEE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B00E5-FED1-0458-1A2C-B92784F3B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64056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1208-8BCB-108E-C987-3798EFACB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6ADC91-8A5F-95E9-60B5-34CEBA077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D8A129-144F-8192-2C0C-06E106E90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09EE0-0C3F-251E-356F-58D58D8C4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7580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E2FAF-AB96-46FC-F4E2-2D7BD8C8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DB91FD-C2E5-440F-7445-7F85E46C9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35F1B1-5658-2215-FC1D-CB049A347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CDB21-EDA5-34E9-FC94-5865C8115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176994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3A58-0F88-B2E7-7BDC-DBBD280E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E1F9F8-E6CE-CDD3-7BF8-67DB48C06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AE6F35-4C67-E1FB-1771-30A38F44F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FC2C1-2357-4422-DEC0-8A77D080C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14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01572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7DE7-6366-B8FF-5341-FEFB553F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DFCE19-56CD-0F26-FCEC-A849BD972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EC7AAE-D05C-A8C3-9043-862720302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FEA93-BF65-0291-0046-EC64A4823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7645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4D9E-0E7E-3B95-72AA-D3C5E54A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5AABD4-3989-D930-80E6-13571F66D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EDCFC5-5488-E85D-C4C6-252D8D88F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FAB785-3802-C29D-EDF9-C949EE7A7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C2979B-352C-461A-A2C0-B69E06B0329B}" type="slidenum">
              <a:rPr lang="en-US" altLang="ko-KR" smtClean="0"/>
              <a:pPr>
                <a:defRPr/>
              </a:pPr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49661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5E49B01-2804-495E-A09F-AB56CA61E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0"/>
            <a:ext cx="9652000" cy="6858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ctr">
              <a:defRPr/>
            </a:pPr>
            <a:endParaRPr kumimoji="0" lang="ko-KR" altLang="en-US" dirty="0"/>
          </a:p>
        </p:txBody>
      </p:sp>
      <p:grpSp>
        <p:nvGrpSpPr>
          <p:cNvPr id="5" name="그룹 8">
            <a:extLst>
              <a:ext uri="{FF2B5EF4-FFF2-40B4-BE49-F238E27FC236}">
                <a16:creationId xmlns:a16="http://schemas.microsoft.com/office/drawing/2014/main" id="{D3545AC3-779E-4A2B-BC0C-1544BAC61EC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3200" y="109538"/>
            <a:ext cx="1931988" cy="544512"/>
            <a:chOff x="203200" y="109538"/>
            <a:chExt cx="2032000" cy="544512"/>
          </a:xfrm>
        </p:grpSpPr>
        <p:pic>
          <p:nvPicPr>
            <p:cNvPr id="6" name="Picture 3" descr="ui_img01">
              <a:extLst>
                <a:ext uri="{FF2B5EF4-FFF2-40B4-BE49-F238E27FC236}">
                  <a16:creationId xmlns:a16="http://schemas.microsoft.com/office/drawing/2014/main" id="{36EB0889-A459-4231-8836-1A658C220C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200" y="109538"/>
              <a:ext cx="506413" cy="544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4" descr="ui_img02_3">
              <a:extLst>
                <a:ext uri="{FF2B5EF4-FFF2-40B4-BE49-F238E27FC236}">
                  <a16:creationId xmlns:a16="http://schemas.microsoft.com/office/drawing/2014/main" id="{DCDA54A7-324C-416C-8261-656DB0DFD8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800" y="141288"/>
              <a:ext cx="1422400" cy="4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5">
            <a:extLst>
              <a:ext uri="{FF2B5EF4-FFF2-40B4-BE49-F238E27FC236}">
                <a16:creationId xmlns:a16="http://schemas.microsoft.com/office/drawing/2014/main" id="{DE9A8DCD-E2C7-41A9-B299-074BC76A0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0"/>
            <a:ext cx="9652000" cy="6858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3E14609-590B-4065-AE7B-B1B6577DA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0" y="0"/>
            <a:ext cx="9652000" cy="685800"/>
          </a:xfrm>
          <a:prstGeom prst="rect">
            <a:avLst/>
          </a:prstGeom>
          <a:solidFill>
            <a:srgbClr val="990000">
              <a:alpha val="59999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algn="ctr">
              <a:defRPr/>
            </a:pPr>
            <a:endParaRPr kumimoji="0" lang="ko-KR" altLang="en-US" dirty="0"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E4F6E43A-227D-4187-9186-3E84AFD346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0625"/>
            <a:ext cx="69532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7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8928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1" name="Rectangle 17">
            <a:extLst>
              <a:ext uri="{FF2B5EF4-FFF2-40B4-BE49-F238E27FC236}">
                <a16:creationId xmlns:a16="http://schemas.microsoft.com/office/drawing/2014/main" id="{6A635654-FAED-4A7F-BA7F-A0B26484DD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9E85863F-C169-4F28-9FD9-5B45E6DF99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32D1201D-3DF9-42F9-9321-DB4516D9EB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16EAD42-1F42-4689-A6B3-7BDA5CC19BB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157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Times New Roman" pitchFamily="18" charset="0"/>
                <a:ea typeface="HY헤드라인M" pitchFamily="18" charset="-127"/>
                <a:cs typeface="Times New Roman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00000"/>
              </a:buClr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Times New Roman" pitchFamily="18" charset="0"/>
                <a:ea typeface="HY헤드라인M" pitchFamily="18" charset="-127"/>
                <a:cs typeface="Times New Roman" pitchFamily="18" charset="0"/>
              </a:defRPr>
            </a:lvl1pPr>
            <a:lvl2pPr marL="800100" indent="-342900">
              <a:buClr>
                <a:srgbClr val="ED7613"/>
              </a:buClr>
              <a:buFont typeface="Wingdings" panose="05000000000000000000" pitchFamily="2" charset="2"/>
              <a:buChar char="§"/>
              <a:defRPr sz="2000" kern="100" spc="0" baseline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  <a:cs typeface="Times New Roman" pitchFamily="18" charset="0"/>
              </a:defRPr>
            </a:lvl2pPr>
            <a:lvl3pPr>
              <a:buClr>
                <a:srgbClr val="FFC000"/>
              </a:buClr>
              <a:buFont typeface="Wingdings" pitchFamily="2" charset="2"/>
              <a:buChar char="§"/>
              <a:defRPr sz="1800" kern="100" spc="0" baseline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  <a:cs typeface="Times New Roman" pitchFamily="18" charset="0"/>
              </a:defRPr>
            </a:lvl3pPr>
            <a:lvl4pPr>
              <a:buClr>
                <a:srgbClr val="92D050"/>
              </a:buClr>
              <a:buFont typeface="Arial" pitchFamily="34" charset="0"/>
              <a:buChar char="•"/>
              <a:defRPr sz="1600" kern="100" spc="0" baseline="0">
                <a:solidFill>
                  <a:schemeClr val="tx1"/>
                </a:solidFill>
                <a:latin typeface="휴먼모음T" pitchFamily="18" charset="-127"/>
                <a:ea typeface="휴먼모음T" pitchFamily="18" charset="-127"/>
                <a:cs typeface="Times New Roman" pitchFamily="18" charset="0"/>
              </a:defRPr>
            </a:lvl4pPr>
            <a:lvl5pPr>
              <a:buNone/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14C01B0E-2987-45CB-BD69-4F5C1BF00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64B49254-BB48-4EA3-9260-007BE92C6C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2C033A6A-EA8B-46F5-AAB2-886F042D53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BA0B926-B112-4B93-AD30-F9FCC931F17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972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AC01E956-0C88-4EB4-A4D1-8CA816F713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C0AA1EB0-61C2-40CE-9D85-50518C839B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77520C52-C85E-434D-BBD8-B59035E367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E7C030E-85B2-42A5-9707-530BDB3D63E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600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4417" y="908050"/>
            <a:ext cx="5384800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12417" y="908050"/>
            <a:ext cx="5384800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852DB5BB-9F2C-4515-9DA3-F7DBFA5FFC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56BA8D20-2062-4979-9D72-196D23EDA3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5463AF97-2ED5-4BA6-8FBA-FF064F6689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A89CAB3D-D6FE-4D39-A900-92E54B9EE6C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91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B1E9A2F2-2AFA-4D4B-B747-B4E2921D39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2D2D4BBF-997F-48C4-A629-7F39ECD321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F9B43BA4-6DAD-4F71-82CA-326E972A1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3DEB99F5-3B2E-4A3B-8EAB-40D1FD60778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954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9DCD73EC-5454-41A4-A37B-587E77DDD0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0AF6C2CC-2564-48DE-9D27-227792A749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197403F4-F0DD-40A5-A0B3-22F55EAAB6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CBC2DDE-CC17-4CCB-BA96-A0A6633A6B7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255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ABE091C4-95B1-4154-A27B-20D3C0BEF6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FEB2DBAF-238E-4AE5-8728-F138696482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07706201-79DB-4ED1-8F3B-297E9508AF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420C3128-16E9-4D6E-9919-5A4370821980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69726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8B136135-67DB-42AD-B705-4652DDE48E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66732B55-1843-4798-85E4-5F0E3173C1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5B39C86A-4A76-4236-B527-E2D3C357BB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3789382-5BFC-409B-B583-44BDD98A98D0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8834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9D00FE83-89B1-425F-BC8D-E23B9B49D6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0DC9C75F-054D-4CC3-83DF-309FFB1E52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78FAD72E-DF54-4D74-ADDA-B9C0C58BA9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A25EFB0-D211-4FDD-B517-E6519452BF1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9378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AFB50B13-3F22-4AA8-BF66-2B8C7C5849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6D1DECE9-16D0-4EA1-9836-0EAFFC6AAA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0DC29E49-E894-45EA-B701-B1B1D367F1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8A2132D-7DC0-4836-B79E-DA7944FE5A6A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4654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300634" y="0"/>
            <a:ext cx="2891367" cy="62372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4417" y="0"/>
            <a:ext cx="8473016" cy="62372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6E8E948D-BA0F-4E80-BB9B-A45A2DFFD4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CF7829FE-1103-417E-91AC-2A27864F0B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13113" y="6345238"/>
            <a:ext cx="5759450" cy="3238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 dirty="0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D52C48F2-7F9B-474D-BB3F-172A04D51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8388" y="6381750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5491F751-FD76-4AC9-846B-783296CB201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85133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 Box 9">
            <a:extLst>
              <a:ext uri="{FF2B5EF4-FFF2-40B4-BE49-F238E27FC236}">
                <a16:creationId xmlns:a16="http://schemas.microsoft.com/office/drawing/2014/main" id="{AD379122-B669-4766-B991-B70E3A2AAA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350" y="6499225"/>
            <a:ext cx="12066588" cy="2460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308EA6F5-5DE7-42D4-9EDB-019C358DB1CA}" type="slidenum">
              <a:rPr kumimoji="0" lang="en-US" altLang="ko-KR" sz="1000" b="1" smtClean="0"/>
              <a:pPr algn="r">
                <a:spcBef>
                  <a:spcPct val="50000"/>
                </a:spcBef>
                <a:defRPr/>
              </a:pPr>
              <a:t>‹#›</a:t>
            </a:fld>
            <a:r>
              <a:rPr kumimoji="0" lang="en-US" altLang="ko-KR" sz="1000" b="1" dirty="0"/>
              <a:t>       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1B9967FA-4796-4E3E-ABF3-5B25831C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8138" y="44450"/>
            <a:ext cx="1185386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Local Layout Effect</a:t>
            </a:r>
            <a:endParaRPr lang="ko-KR" altLang="en-US"/>
          </a:p>
        </p:txBody>
      </p:sp>
      <p:sp>
        <p:nvSpPr>
          <p:cNvPr id="1028" name="Rectangle 16">
            <a:extLst>
              <a:ext uri="{FF2B5EF4-FFF2-40B4-BE49-F238E27FC236}">
                <a16:creationId xmlns:a16="http://schemas.microsoft.com/office/drawing/2014/main" id="{EE1A851C-690F-4873-8854-6D54B80356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3888" y="908050"/>
            <a:ext cx="10972800" cy="532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grpSp>
        <p:nvGrpSpPr>
          <p:cNvPr id="1029" name="그룹 2">
            <a:extLst>
              <a:ext uri="{FF2B5EF4-FFF2-40B4-BE49-F238E27FC236}">
                <a16:creationId xmlns:a16="http://schemas.microsoft.com/office/drawing/2014/main" id="{A8300572-BCA8-4CC4-A5B9-47ED0BFB8EE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98438" y="6524625"/>
            <a:ext cx="1465262" cy="201613"/>
            <a:chOff x="42973" y="6353175"/>
            <a:chExt cx="3141663" cy="430213"/>
          </a:xfrm>
        </p:grpSpPr>
        <p:pic>
          <p:nvPicPr>
            <p:cNvPr id="1030" name="Picture 16" descr="ui_img01">
              <a:extLst>
                <a:ext uri="{FF2B5EF4-FFF2-40B4-BE49-F238E27FC236}">
                  <a16:creationId xmlns:a16="http://schemas.microsoft.com/office/drawing/2014/main" id="{E00169DE-8DBB-4311-87CC-55CC459B080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73" y="6353175"/>
              <a:ext cx="300038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1" name="Picture 17" descr="ui_img02_2">
              <a:extLst>
                <a:ext uri="{FF2B5EF4-FFF2-40B4-BE49-F238E27FC236}">
                  <a16:creationId xmlns:a16="http://schemas.microsoft.com/office/drawing/2014/main" id="{61876780-4C1C-47C2-B3CD-4EC2DA60828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786" y="6453188"/>
              <a:ext cx="2736850" cy="233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27" r:id="rId1"/>
    <p:sldLayoutId id="2147485428" r:id="rId2"/>
    <p:sldLayoutId id="2147485429" r:id="rId3"/>
    <p:sldLayoutId id="2147485430" r:id="rId4"/>
    <p:sldLayoutId id="2147485431" r:id="rId5"/>
    <p:sldLayoutId id="2147485432" r:id="rId6"/>
    <p:sldLayoutId id="2147485433" r:id="rId7"/>
    <p:sldLayoutId id="2147485434" r:id="rId8"/>
    <p:sldLayoutId id="2147485435" r:id="rId9"/>
    <p:sldLayoutId id="2147485436" r:id="rId10"/>
    <p:sldLayoutId id="214748543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Lucida Sans Unicode" pitchFamily="34" charset="0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Lucida Sans Unicode" pitchFamily="34" charset="0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Lucida Sans Unicode" pitchFamily="34" charset="0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1"/>
          </a:solidFill>
          <a:latin typeface="Lucida Sans Unicode" pitchFamily="34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Lucida Sans Unicode" pitchFamily="34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Lucida Sans Unicode" pitchFamily="34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Lucida Sans Unicode" pitchFamily="34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000" b="1">
          <a:solidFill>
            <a:schemeClr val="bg1"/>
          </a:solidFill>
          <a:latin typeface="Lucida Sans Unicode" pitchFamily="34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j-ea"/>
          <a:cs typeface="굴림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j-ea"/>
          <a:cs typeface="굴림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j-ea"/>
          <a:cs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j-ea"/>
          <a:cs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j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j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j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j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dnjswns20/RL_OpAmp_Optimiza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FF676BD4-39A1-410F-9302-D46179F2618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8896" y="2033414"/>
            <a:ext cx="10654208" cy="2043658"/>
          </a:xfrm>
        </p:spPr>
        <p:txBody>
          <a:bodyPr/>
          <a:lstStyle/>
          <a:p>
            <a:r>
              <a:rPr lang="en-US" altLang="ko-KR" sz="4000" b="1" dirty="0"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Deep Reinforcement Learning</a:t>
            </a:r>
            <a:r>
              <a:rPr lang="ko-KR" altLang="en-US" sz="4000" b="1" dirty="0"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을 이용한 </a:t>
            </a:r>
            <a:r>
              <a:rPr lang="en-US" altLang="ko-KR" sz="4000" b="1" dirty="0"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180nm 2-Stage Op-Amp </a:t>
            </a:r>
            <a:r>
              <a:rPr lang="ko-KR" altLang="en-US" sz="4000" b="1" dirty="0">
                <a:latin typeface="나눔고딕" pitchFamily="2" charset="-127"/>
                <a:ea typeface="나눔고딕" pitchFamily="2" charset="-127"/>
                <a:cs typeface="Calibri" panose="020F0502020204030204" pitchFamily="34" charset="0"/>
              </a:rPr>
              <a:t>자동 최적화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39CAA6-62B1-15D7-3BB5-3372BD772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8848" y="4077072"/>
            <a:ext cx="9594304" cy="1368152"/>
          </a:xfrm>
        </p:spPr>
        <p:txBody>
          <a:bodyPr/>
          <a:lstStyle/>
          <a:p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2025-2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학기 강화학습개론 프로젝트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anose="020F0502020204030204" pitchFamily="34" charset="0"/>
              </a:rPr>
              <a:t>CSE5516-01 </a:t>
            </a:r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r>
            <a:r>
              <a:rPr lang="ko-KR" altLang="en-US" sz="2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2400" dirty="0">
                <a:latin typeface="나눔고딕" panose="020D0604000000000000" pitchFamily="50" charset="-127"/>
                <a:ea typeface="나눔고딕" panose="020D0604000000000000" pitchFamily="50" charset="-127"/>
                <a:hlinkClick r:id="rId3"/>
              </a:rPr>
              <a:t>https://github.com/dbdnjswns20/RL_OpAmp_Optimization</a:t>
            </a:r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4F878FE9-325F-214B-5449-043E83143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7552" y="5661248"/>
            <a:ext cx="2825552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2000" b="1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j-ea"/>
                <a:cs typeface="굴림" pitchFamily="50" charset="-127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+mn-lt"/>
                <a:ea typeface="+mj-ea"/>
                <a:cs typeface="굴림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tx1"/>
                </a:solidFill>
                <a:latin typeface="+mn-lt"/>
                <a:ea typeface="+mj-ea"/>
                <a:cs typeface="굴림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j-ea"/>
                <a:cs typeface="굴림" pitchFamily="50" charset="-127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j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j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j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j-ea"/>
              </a:defRPr>
            </a:lvl9pPr>
          </a:lstStyle>
          <a:p>
            <a:r>
              <a:rPr lang="en-US" altLang="ko-KR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120250652 </a:t>
            </a:r>
            <a:r>
              <a:rPr lang="ko-KR" altLang="en-US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유원준</a:t>
            </a:r>
            <a:endParaRPr lang="en-US" altLang="ko-KR" kern="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CE01A-4DD2-BE14-B51D-DE7B2D51C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EF154-0F74-C6B0-83B8-98C94CF3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Executive Summary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E430F-D34A-A630-0CD1-FAE0A11A9529}"/>
              </a:ext>
            </a:extLst>
          </p:cNvPr>
          <p:cNvSpPr txBox="1"/>
          <p:nvPr/>
        </p:nvSpPr>
        <p:spPr>
          <a:xfrm>
            <a:off x="407368" y="901885"/>
            <a:ext cx="11483887" cy="4756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180nm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공정의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2-Stage Op-Amp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회로 설계를 자동화하기 위해 강화학습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(PPO)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프레임워크 구축 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Approach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NgSpice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시뮬레이터와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 Baselines3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연동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Multi-Objective Reward Function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설계를 통해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Gain, Phase Margin, UGBW (Unity Gain Bandwidth, Speed), Power, Area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간의 복잡한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해결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Result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기존 목표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(Target)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대비 초과 달성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Gain: 76.56dB (Target 60dB)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MOSFET Area: 656.97um2 (Target 1000um2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대비 약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34%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축소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복잡한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관계를 스스로 학습하여 수동 설계 대비 설계 시간 획기적 단축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88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2976-BCB7-EA0A-CEB0-6BCD049B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7698C-89BC-FF67-8ABE-EF6117AF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Motivation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25B4B-9D5D-F5A3-1C9D-BD0B540A46B8}"/>
              </a:ext>
            </a:extLst>
          </p:cNvPr>
          <p:cNvSpPr txBox="1"/>
          <p:nvPr/>
        </p:nvSpPr>
        <p:spPr>
          <a:xfrm>
            <a:off x="407368" y="901885"/>
            <a:ext cx="6192688" cy="5125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Challenges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Short-channel Effect: 180nm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공정 특성상 출력 저항이 낮아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Gain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확보가 어려움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Complexity: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단순 수식 계산만으로는 정확한 성능 예측이 불가능하여 시뮬레이션 의존도가 높음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 Dilemma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Multi-objective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Conflict: Gain, Bandwidth,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Power,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 서로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관계에 얽혀 있어 동시 만족이 어려움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Time-consuming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숙련된 엔지니어조차 최적점을 찾기 위해 수주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(Weeks)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간의 반복 작업이 필요함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3EBC7-F4B7-CF34-8A6C-C09182F633BF}"/>
              </a:ext>
            </a:extLst>
          </p:cNvPr>
          <p:cNvSpPr txBox="1"/>
          <p:nvPr/>
        </p:nvSpPr>
        <p:spPr>
          <a:xfrm>
            <a:off x="7553465" y="5282398"/>
            <a:ext cx="3312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1: Analog Design Octagon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2" name="Picture 8" descr="Behzad Razavi's &quot;analog design octagon&quot; illustrating the trade-offs... |  Download Scientific Diagram">
            <a:extLst>
              <a:ext uri="{FF2B5EF4-FFF2-40B4-BE49-F238E27FC236}">
                <a16:creationId xmlns:a16="http://schemas.microsoft.com/office/drawing/2014/main" id="{0DC8E950-919E-F06F-DF72-7BE08162E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863" y="1704975"/>
            <a:ext cx="5743575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073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5719-584D-86BA-2480-AC4AC703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1E040-1887-A5DC-2384-A8D387F2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8C6E7-17DC-95AC-9814-2C07DDFD9FDC}"/>
              </a:ext>
            </a:extLst>
          </p:cNvPr>
          <p:cNvSpPr txBox="1"/>
          <p:nvPr/>
        </p:nvSpPr>
        <p:spPr>
          <a:xfrm>
            <a:off x="407368" y="901885"/>
            <a:ext cx="11483887" cy="263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of Conventional Methods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Design: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설계자의 경험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(Heuristic)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에 의존하므로 전역 최적점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(Global Optima)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보장하지 못함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Reinforcement Learning?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Model-free Approach: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복잡한 물리 수식 없이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SPICE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시뮬레이션 결과만으로 학습 가능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(Reward)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Exploration: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사람이 생각하기 힘든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조합을 탐색하여 성능을 극대화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학습된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0.1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초 만에 최적 설계를 도출하여 런타임 획기적 단축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B6283EB-CEE7-78AC-7441-C4E417925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042544"/>
              </p:ext>
            </p:extLst>
          </p:nvPr>
        </p:nvGraphicFramePr>
        <p:xfrm>
          <a:off x="1595500" y="3722504"/>
          <a:ext cx="9000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6044">
                  <a:extLst>
                    <a:ext uri="{9D8B030D-6E8A-4147-A177-3AD203B41FA5}">
                      <a16:colId xmlns:a16="http://schemas.microsoft.com/office/drawing/2014/main" val="3083560813"/>
                    </a:ext>
                  </a:extLst>
                </a:gridCol>
                <a:gridCol w="2494985">
                  <a:extLst>
                    <a:ext uri="{9D8B030D-6E8A-4147-A177-3AD203B41FA5}">
                      <a16:colId xmlns:a16="http://schemas.microsoft.com/office/drawing/2014/main" val="2465108445"/>
                    </a:ext>
                  </a:extLst>
                </a:gridCol>
                <a:gridCol w="2494985">
                  <a:extLst>
                    <a:ext uri="{9D8B030D-6E8A-4147-A177-3AD203B41FA5}">
                      <a16:colId xmlns:a16="http://schemas.microsoft.com/office/drawing/2014/main" val="3550922659"/>
                    </a:ext>
                  </a:extLst>
                </a:gridCol>
                <a:gridCol w="2494985">
                  <a:extLst>
                    <a:ext uri="{9D8B030D-6E8A-4147-A177-3AD203B41FA5}">
                      <a16:colId xmlns:a16="http://schemas.microsoft.com/office/drawing/2014/main" val="3498997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Manual Design (Human)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Numerical Opt. (e.g., Gm/Id)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Reinforcement Learning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6048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Approach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Intuition &amp; Experience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Equation-based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Black-box Simulation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23836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Complexity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(Hard to consider parasitic)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(Non-linear eq.)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Model-free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(Learn from result)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40265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Exploration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 (Limited)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 (Gradient-based)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Global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(Stochastic Policy)</a:t>
                      </a: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29367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 Cost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Weeks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Hours ~ Days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Hours (Training) / &lt;0.1s (Inf)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20414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Optimality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Sub-optimal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Local Optima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Near Global Optima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382522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D24049A-F7C7-CD12-6B39-112C808ABE5D}"/>
              </a:ext>
            </a:extLst>
          </p:cNvPr>
          <p:cNvSpPr txBox="1"/>
          <p:nvPr/>
        </p:nvSpPr>
        <p:spPr>
          <a:xfrm>
            <a:off x="1595500" y="6133467"/>
            <a:ext cx="9000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1: Comparison Table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63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096C7-94C3-CA0B-C7A4-C24FD189F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E72DD-6672-8D6C-8887-EA7AC28C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Circuit Topology &amp; Design Objectives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C9C3D-4703-6972-FB1E-8740DB3CC7D1}"/>
              </a:ext>
            </a:extLst>
          </p:cNvPr>
          <p:cNvSpPr txBox="1"/>
          <p:nvPr/>
        </p:nvSpPr>
        <p:spPr>
          <a:xfrm>
            <a:off x="407369" y="901885"/>
            <a:ext cx="6144631" cy="5589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Schematic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Input Pair (M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Active Load (M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Source Stage (M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Bias Circuit (M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Miller Capacitor (Cc)</a:t>
            </a: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Variables (Action Space)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Transistor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Width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Length (L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L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Compensation Capacitor (Cc)</a:t>
            </a: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Specifications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DC Gain: &gt;= 60dB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Margin (PM): &gt;= 60deg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UGBW (Unity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Bandwidth): &gt;= 50MHz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Power: &lt;= 0.8mW (Hard Constraint)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MOSFET Area: &lt;= 1000um2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A8D61-9D19-AC2D-2B91-2ACACF45A41D}"/>
              </a:ext>
            </a:extLst>
          </p:cNvPr>
          <p:cNvSpPr txBox="1"/>
          <p:nvPr/>
        </p:nvSpPr>
        <p:spPr>
          <a:xfrm>
            <a:off x="7643958" y="5218052"/>
            <a:ext cx="3131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2: 2-stage Op-Amp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AD4AD5-B422-B83D-27B5-53CDD88924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B9E1EE"/>
              </a:clrFrom>
              <a:clrTo>
                <a:srgbClr val="B9E1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" t="635" r="881" b="2607"/>
          <a:stretch>
            <a:fillRect/>
          </a:stretch>
        </p:blipFill>
        <p:spPr bwMode="auto">
          <a:xfrm>
            <a:off x="6552000" y="1854000"/>
            <a:ext cx="5292000" cy="308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1472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0675-FC59-5BB2-DAFF-FAE9A026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6D690-DB49-1FB9-5482-53F252B1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RL Formulation: State &amp; Action Space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CEC64-D658-B65D-7B1E-1838757A98E5}"/>
              </a:ext>
            </a:extLst>
          </p:cNvPr>
          <p:cNvSpPr txBox="1"/>
          <p:nvPr/>
        </p:nvSpPr>
        <p:spPr>
          <a:xfrm>
            <a:off x="407368" y="901885"/>
            <a:ext cx="11483887" cy="559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Space (Observation)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 현재 회로 성능을 판단하기 위해 사용하는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차원 정규화 벡터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(Normalized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Scaling: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신경망 학습 효율을 위해 각 물리량을 비슷한 스케일로 변환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Gain: 1/100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로 스케일링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(60dB -&gt; 0.6)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Power: mW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단위로 변환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(1mW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1.0)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Margin: 1/100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로 스케일링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(60deg -&gt; 0.6)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UGBW: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1/10e7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로 스케일링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(10MHz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1.0)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MOSFET Area: 1/100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로 스케일링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(1000um2 -&gt; 10.0)</a:t>
            </a: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Space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설계 변수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개를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[-1, 1]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범위의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Space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로 정의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Design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Transistor Width (W): W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3,4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(Differential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대칭 적용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5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개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Transistor Length (L): L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3,4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</a:t>
            </a: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(5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개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Compensation Capacitor (Cc): Cc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개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2120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6CE4-92DA-E00B-1AF1-3E209AA19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F78FB-903D-B202-AFBD-8CF88DA6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RL Formulation: Reward Function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6F5E3-A37D-6965-743E-5FA637C830E6}"/>
              </a:ext>
            </a:extLst>
          </p:cNvPr>
          <p:cNvSpPr txBox="1"/>
          <p:nvPr/>
        </p:nvSpPr>
        <p:spPr>
          <a:xfrm>
            <a:off x="407368" y="901885"/>
            <a:ext cx="11483887" cy="5589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Reward Strategy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해결하기 위한 </a:t>
            </a:r>
            <a:r>
              <a:rPr lang="en-US" altLang="ko-KR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“Two-Phase Reward System”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도입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1: Spec Satisfaction (Survival)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Condition: Gain &gt;= 60dB, PM Error &lt;= 5deg, UGBW &gt;= 95%,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하나라도 미달 시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Strategy: Power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와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점수를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점 처리하고 스펙 달성에만 집중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Shaping: Polynomial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페널티를 적용하여 목표치 근처에서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급격하게 형성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빠른 수렴 유도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Equation: R = (</a:t>
            </a:r>
            <a:r>
              <a:rPr lang="it-IT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5.0 * score_gain) + (5.0 * score_pm) + (5.0 * score_ugbw) - 5.0</a:t>
            </a: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2: Optimization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(Bonus)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Condition: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모든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Spec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만족했을 때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(if specs_met: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:)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스펙 가중치는 낮추고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와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가중치를 대폭 상향하여 저전력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소면적 설계 유도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Equation: R = (2.0 * score_gain) + (2.0 * score_pm) + (2.0 * score_ugbw) + (10.0 * score_power) + (4.0 * score_area) + 5.0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97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04FA-D7D7-8356-F0B6-64E3C711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9704A-75C6-50D5-B3DB-8C2B7EFB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Algorithm &amp; System Architecture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4E8E95-2584-37EA-F147-FED20D0CFDFE}"/>
              </a:ext>
            </a:extLst>
          </p:cNvPr>
          <p:cNvSpPr txBox="1"/>
          <p:nvPr/>
        </p:nvSpPr>
        <p:spPr>
          <a:xfrm>
            <a:off x="407368" y="901885"/>
            <a:ext cx="11483887" cy="3047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Algorithm: PPO (Proximal Policy Optimization)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Transistor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Width/Length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와 같은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Action Space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다루기에 적합함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 Policy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사용하여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Optima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에 빠지지 않고 전역 탐색에 유리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학습 안정성이 높아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Hyperparameter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튜닝에 소요되는 시간 절약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Closed-loop Optimization: Agent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 설계 변수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(Action)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제안하면 시뮬레이터가 성능을 검증하고 그 결과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(Reward)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바탕으로 학습하는 순환 구조 구축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4BBCA0C-29D3-22DA-E7F3-B18658EF4577}"/>
              </a:ext>
            </a:extLst>
          </p:cNvPr>
          <p:cNvSpPr/>
          <p:nvPr/>
        </p:nvSpPr>
        <p:spPr bwMode="auto">
          <a:xfrm>
            <a:off x="1377098" y="4255365"/>
            <a:ext cx="2315585" cy="160537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(Python/SB3)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PPO Algorithm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 Network</a:t>
            </a:r>
            <a:endParaRPr kumimoji="0" lang="ko-K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04A77-A1C0-DF78-A1F2-C7FAC1782475}"/>
              </a:ext>
            </a:extLst>
          </p:cNvPr>
          <p:cNvSpPr txBox="1"/>
          <p:nvPr/>
        </p:nvSpPr>
        <p:spPr>
          <a:xfrm>
            <a:off x="3936866" y="6337052"/>
            <a:ext cx="4424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1: Proposed RL-based Optimization Framework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63482D0-3D04-1EE4-810E-F7BD897C48E2}"/>
              </a:ext>
            </a:extLst>
          </p:cNvPr>
          <p:cNvCxnSpPr>
            <a:cxnSpLocks/>
          </p:cNvCxnSpPr>
          <p:nvPr/>
        </p:nvCxnSpPr>
        <p:spPr bwMode="auto">
          <a:xfrm flipV="1">
            <a:off x="3799342" y="5069967"/>
            <a:ext cx="981323" cy="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36D880A-9033-EB82-7B85-C0573F0EE48B}"/>
              </a:ext>
            </a:extLst>
          </p:cNvPr>
          <p:cNvSpPr/>
          <p:nvPr/>
        </p:nvSpPr>
        <p:spPr bwMode="auto">
          <a:xfrm>
            <a:off x="4887324" y="4255371"/>
            <a:ext cx="2315585" cy="160537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Interface (Gym Env)</a:t>
            </a:r>
          </a:p>
          <a:p>
            <a:pPr algn="ctr"/>
            <a:r>
              <a:rPr kumimoji="0"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 Calculation (Gain, PM..)</a:t>
            </a:r>
          </a:p>
          <a:p>
            <a:pPr algn="ctr"/>
            <a:r>
              <a:rPr kumimoji="0"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Reward &amp; State Generation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0E563BD-C2FC-9BFB-7B74-604B49557832}"/>
              </a:ext>
            </a:extLst>
          </p:cNvPr>
          <p:cNvSpPr/>
          <p:nvPr/>
        </p:nvSpPr>
        <p:spPr bwMode="auto">
          <a:xfrm>
            <a:off x="8394591" y="4255364"/>
            <a:ext cx="2315585" cy="160537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Simulator (NgSpice)</a:t>
            </a:r>
          </a:p>
          <a:p>
            <a:pPr algn="ctr"/>
            <a:r>
              <a:rPr kumimoji="0"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 Analysis (.ac)</a:t>
            </a:r>
          </a:p>
          <a:p>
            <a:pPr algn="ctr"/>
            <a:r>
              <a:rPr kumimoji="0"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Point (.op)</a:t>
            </a:r>
            <a:endParaRPr kumimoji="0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54C4720-33AA-40C2-4B7B-C2A9E84D2718}"/>
              </a:ext>
            </a:extLst>
          </p:cNvPr>
          <p:cNvCxnSpPr>
            <a:cxnSpLocks/>
          </p:cNvCxnSpPr>
          <p:nvPr/>
        </p:nvCxnSpPr>
        <p:spPr bwMode="auto">
          <a:xfrm flipV="1">
            <a:off x="7308087" y="4967114"/>
            <a:ext cx="981323" cy="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DF3F1D1-DCF6-0D9E-F2A1-01D1B1847E00}"/>
              </a:ext>
            </a:extLst>
          </p:cNvPr>
          <p:cNvCxnSpPr>
            <a:cxnSpLocks/>
          </p:cNvCxnSpPr>
          <p:nvPr/>
        </p:nvCxnSpPr>
        <p:spPr bwMode="auto">
          <a:xfrm flipV="1">
            <a:off x="2534889" y="5949280"/>
            <a:ext cx="1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E46E39D-7C33-1987-EEA0-5A3BF5C11D0D}"/>
              </a:ext>
            </a:extLst>
          </p:cNvPr>
          <p:cNvCxnSpPr>
            <a:cxnSpLocks/>
          </p:cNvCxnSpPr>
          <p:nvPr/>
        </p:nvCxnSpPr>
        <p:spPr bwMode="auto">
          <a:xfrm>
            <a:off x="2536369" y="6237312"/>
            <a:ext cx="355963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7E8325A-423C-6D0A-7BDA-D925064A7414}"/>
              </a:ext>
            </a:extLst>
          </p:cNvPr>
          <p:cNvCxnSpPr>
            <a:cxnSpLocks/>
          </p:cNvCxnSpPr>
          <p:nvPr/>
        </p:nvCxnSpPr>
        <p:spPr bwMode="auto">
          <a:xfrm flipV="1">
            <a:off x="6096000" y="5949280"/>
            <a:ext cx="0" cy="2880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B4A63C-1F97-295B-A91E-7B9595462D52}"/>
              </a:ext>
            </a:extLst>
          </p:cNvPr>
          <p:cNvSpPr txBox="1"/>
          <p:nvPr/>
        </p:nvSpPr>
        <p:spPr>
          <a:xfrm>
            <a:off x="3799342" y="4421649"/>
            <a:ext cx="981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  <a:b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(W, L, Cc)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6B99C5-52E0-CE55-95A2-BDA0671AA1FC}"/>
              </a:ext>
            </a:extLst>
          </p:cNvPr>
          <p:cNvSpPr txBox="1"/>
          <p:nvPr/>
        </p:nvSpPr>
        <p:spPr>
          <a:xfrm>
            <a:off x="3132211" y="5895132"/>
            <a:ext cx="2315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(Gain, PM..), Reward</a:t>
            </a:r>
            <a:endParaRPr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88A7EBC-AD8B-2E07-4520-4C724CA529A8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7305307" y="5181929"/>
            <a:ext cx="981323" cy="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A8426-FC96-BE94-343F-37DD1D4AB0B8}"/>
              </a:ext>
            </a:extLst>
          </p:cNvPr>
          <p:cNvSpPr txBox="1"/>
          <p:nvPr/>
        </p:nvSpPr>
        <p:spPr>
          <a:xfrm>
            <a:off x="7305306" y="4421649"/>
            <a:ext cx="981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</a:t>
            </a:r>
          </a:p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Netlist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17F2B9-72B5-6BDE-C6F6-2C0520D07A05}"/>
              </a:ext>
            </a:extLst>
          </p:cNvPr>
          <p:cNvSpPr txBox="1"/>
          <p:nvPr/>
        </p:nvSpPr>
        <p:spPr>
          <a:xfrm>
            <a:off x="7305306" y="5248537"/>
            <a:ext cx="981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Data</a:t>
            </a:r>
            <a:b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(V_out, I)</a:t>
            </a:r>
          </a:p>
        </p:txBody>
      </p:sp>
    </p:spTree>
    <p:extLst>
      <p:ext uri="{BB962C8B-B14F-4D97-AF65-F5344CB8AC3E}">
        <p14:creationId xmlns:p14="http://schemas.microsoft.com/office/powerpoint/2010/main" val="397181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D959-240A-A3AE-545E-9B91300F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F769DD-EF98-F20E-6E49-BD7AC39C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Experimental Setup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3F13B2-B15E-DA5F-89F5-EFBB6FA0D6A6}"/>
              </a:ext>
            </a:extLst>
          </p:cNvPr>
          <p:cNvSpPr txBox="1"/>
          <p:nvPr/>
        </p:nvSpPr>
        <p:spPr>
          <a:xfrm>
            <a:off x="407368" y="901885"/>
            <a:ext cx="11483887" cy="4712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Environment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Simulator: NgSpice (Open-Source SPICE Simulator)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Technology: 180nm CMOS Parameter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Stack: Python 3.10.11, Stable Baselines3 (PPO), Gymnasium</a:t>
            </a: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Hyperparameters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Timesteps: 1,024,000 Steps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(~1M)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Rate: 0.001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n_steps (Buffer Size): 2048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Size: 128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Entropy Coefficient: 0.01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Clip Range: 0.1</a:t>
            </a:r>
          </a:p>
        </p:txBody>
      </p:sp>
    </p:spTree>
    <p:extLst>
      <p:ext uri="{BB962C8B-B14F-4D97-AF65-F5344CB8AC3E}">
        <p14:creationId xmlns:p14="http://schemas.microsoft.com/office/powerpoint/2010/main" val="65910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559A-433D-65E6-EC48-13452482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002B2-80A2-975F-E17E-6C8FB4D46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Experimental Results </a:t>
            </a:r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- Learning Curve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7CEB19-09EC-BA22-3966-A3119B4A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1" y="979771"/>
            <a:ext cx="6446769" cy="26745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8ED70A-D8B4-D090-2A89-EDF3CD98620A}"/>
              </a:ext>
            </a:extLst>
          </p:cNvPr>
          <p:cNvSpPr txBox="1"/>
          <p:nvPr/>
        </p:nvSpPr>
        <p:spPr>
          <a:xfrm>
            <a:off x="6888088" y="901885"/>
            <a:ext cx="5003167" cy="258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 (DC Gain)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학습 초기에는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(60dB)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미달 시 부여되는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Penalty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회피하기 위해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 급격하게 상승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약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300,000 Step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이후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(60dB)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안정적으로 상회하는 구간에 진입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그림 12" descr="도표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114043-060D-0B98-AC7E-F2DFF5E89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81" y="3753275"/>
            <a:ext cx="6446768" cy="27006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010C7E-16FD-E4F9-447E-E8368AC23C6E}"/>
              </a:ext>
            </a:extLst>
          </p:cNvPr>
          <p:cNvSpPr txBox="1"/>
          <p:nvPr/>
        </p:nvSpPr>
        <p:spPr>
          <a:xfrm>
            <a:off x="6892509" y="3650390"/>
            <a:ext cx="5003167" cy="300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(Stability)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초기 무작위 탐색으로 인한 불안정 구간을 거쳐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최적화를 통해 빠르게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60deg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부근으로 수렴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스펙 달성 후에는 과도한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Margin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방지하는 페널티가 작용하여 적정 수준 유지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213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58B76-1D08-1009-8115-910B69DB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970EFC-409F-AA41-6270-99BEF629D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1" y="979771"/>
            <a:ext cx="6446768" cy="26792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3D1583F-0DC7-B5C1-DB09-561AB9EA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Experimental Results </a:t>
            </a:r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- Learning Curve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75D77-4249-D940-E563-56049D4E40C6}"/>
              </a:ext>
            </a:extLst>
          </p:cNvPr>
          <p:cNvSpPr txBox="1"/>
          <p:nvPr/>
        </p:nvSpPr>
        <p:spPr>
          <a:xfrm>
            <a:off x="6888088" y="901885"/>
            <a:ext cx="5003167" cy="300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UGBW (Unity Gain Bandwidth)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학습 초기에는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(50MHz)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미달 시 부여되는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Polynomial Penalty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회피하기 위해 대역폭을 우선 확보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Transisotor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gm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키우거나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줄이는 방향으로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조정하여 빠르게 목표치 도달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DF2B2-16DD-FE5B-9FF7-D85983BB53C3}"/>
              </a:ext>
            </a:extLst>
          </p:cNvPr>
          <p:cNvSpPr txBox="1"/>
          <p:nvPr/>
        </p:nvSpPr>
        <p:spPr>
          <a:xfrm>
            <a:off x="407368" y="3901389"/>
            <a:ext cx="11483887" cy="217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Trade-off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Resolution (Cc Dilemma)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UGBW: Cc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줄여야 함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(GBW ~ gm1/Cc)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Phase Margin: Cc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키워야 함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(Pole-Splitting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효과 극대화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1.9pF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으로 최적화하여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50MHz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목표 대역폭을 확보하는 동시에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Transistor Sizing (W/L)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정밀하게 조절하여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Phase Margin (60deg)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확보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69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FD14D-9481-226A-D344-3E7C4860C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968800-E043-8066-2F36-82E60A407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31" y="979772"/>
            <a:ext cx="6446768" cy="268457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8B12A17-96A1-A5C1-3B76-A0990DA0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cs typeface="Calibri" panose="020F0502020204030204" pitchFamily="34" charset="0"/>
              </a:rPr>
              <a:t>Experimental Results </a:t>
            </a:r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- Learning Curve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26F188-E958-6AB6-66D1-BBDCDB1CDD02}"/>
              </a:ext>
            </a:extLst>
          </p:cNvPr>
          <p:cNvSpPr txBox="1"/>
          <p:nvPr/>
        </p:nvSpPr>
        <p:spPr>
          <a:xfrm>
            <a:off x="6888088" y="901885"/>
            <a:ext cx="5003167" cy="258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(Power Consumption)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학습 초기에는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Gain/UGBW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확보를 위해 전류를 많이 소모했으나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스펙을 만족하는 시점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약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300k step)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부터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가중치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(10.0)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 활성화되며 급격히 감소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091620-039C-0E50-26C7-6E16EDAD89DC}"/>
              </a:ext>
            </a:extLst>
          </p:cNvPr>
          <p:cNvSpPr txBox="1"/>
          <p:nvPr/>
        </p:nvSpPr>
        <p:spPr>
          <a:xfrm>
            <a:off x="6892509" y="3650390"/>
            <a:ext cx="5003167" cy="258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MOSFET Area (Layout</a:t>
            </a:r>
            <a:r>
              <a:rPr lang="ko-KR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저전력 설계를 위해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Transistor Width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최적화하는 과정에서 면적도 동반 감소하는 경향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(1000um2)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대비 약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34%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축소된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650um2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수준 달성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칩 면적 효율성 입증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그림 6" descr="스크린샷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700683-A8ED-1185-4D2B-705F614A2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31" y="3745428"/>
            <a:ext cx="6446768" cy="270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63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81A1-5F43-D3E4-604A-9AB435DC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31388-C0DE-A258-10BC-DD7547C6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Results II - Hyperparameter</a:t>
            </a:r>
            <a:r>
              <a:rPr lang="ko-KR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A6CF3-B927-B34E-9CAC-E3B7E816A1AA}"/>
              </a:ext>
            </a:extLst>
          </p:cNvPr>
          <p:cNvSpPr txBox="1"/>
          <p:nvPr/>
        </p:nvSpPr>
        <p:spPr>
          <a:xfrm>
            <a:off x="354056" y="880790"/>
            <a:ext cx="11483887" cy="249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Gain, Phase Margin, UGBW [Learning rate 0.001 (Proposed) vs. 0.005]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Convergence Speed: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두 경우 모두 약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300k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부근에서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Spec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에 도달하며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학습 효율성 측면에서는 큰 차이가 없음을 확인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Oscillation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LR = 0.005 (Purple):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수렴 이후에도 과도한 학습률로 인해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 Policy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유지하지 못하고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Oscillation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및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Divergence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현상 발생</a:t>
            </a:r>
            <a:endParaRPr lang="en-US" altLang="ko-K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 descr="스크린샷, 텍스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E42EE1-22B5-A9BB-F9B2-51AB82878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260" y="3573016"/>
            <a:ext cx="3434563" cy="2604389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3F40CE-D2CC-95C0-160F-B0E49AE23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134" y="3573016"/>
            <a:ext cx="3434563" cy="2585076"/>
          </a:xfrm>
          <a:prstGeom prst="rect">
            <a:avLst/>
          </a:prstGeom>
        </p:spPr>
      </p:pic>
      <p:pic>
        <p:nvPicPr>
          <p:cNvPr id="9" name="그림 8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225DE4-EEAE-9FB5-A12B-661F46F64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421" y="3573016"/>
            <a:ext cx="3403388" cy="25861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ACF2FE-145C-E833-9B0B-69949734B26A}"/>
              </a:ext>
            </a:extLst>
          </p:cNvPr>
          <p:cNvSpPr txBox="1"/>
          <p:nvPr/>
        </p:nvSpPr>
        <p:spPr>
          <a:xfrm>
            <a:off x="4007768" y="6350683"/>
            <a:ext cx="77768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ko-K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*Relative Hour</a:t>
            </a:r>
            <a:r>
              <a:rPr lang="ko-KR" alt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차이는 실험 환경 </a:t>
            </a:r>
            <a:r>
              <a:rPr lang="en-US" altLang="ko-K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(Hardware)</a:t>
            </a:r>
            <a:r>
              <a:rPr lang="ko-KR" alt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상이함에 기인하므로 절대적인 시간 대신 </a:t>
            </a:r>
            <a:r>
              <a:rPr lang="en-US" altLang="ko-K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Step</a:t>
            </a:r>
            <a:r>
              <a:rPr lang="ko-KR" alt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기준으로 비교 분석함</a:t>
            </a:r>
            <a:endParaRPr lang="en-US" altLang="ko-KR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757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0330A-7F73-EC5A-DDDE-85BB1441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2B485-AF90-B12E-6BC2-72737B06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Results II - Hyperparameter</a:t>
            </a:r>
            <a:r>
              <a:rPr lang="ko-KR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B05FA-B52E-928E-2EB9-03AFC1646DCD}"/>
              </a:ext>
            </a:extLst>
          </p:cNvPr>
          <p:cNvSpPr txBox="1"/>
          <p:nvPr/>
        </p:nvSpPr>
        <p:spPr>
          <a:xfrm>
            <a:off x="354056" y="880790"/>
            <a:ext cx="11483887" cy="2452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Power, MOSFET Area [Learning rate 0.001 (Proposed) vs. 0.005]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Convergence Speed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LR = 0.005 (Purple):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초기 감소 속도는 빠르지만 최적점 부근에서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Fine-tuning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에 실패하여 심한 진동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(Oscillation) 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및 불안정성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(Instability)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 지속됨</a:t>
            </a:r>
            <a:endParaRPr lang="en-US" altLang="ko-K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1371600" lvl="2" indent="-4572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미세한 전력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면적 이득을 얻기 위해서는 낮은 </a:t>
            </a:r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Rate (0.001)</a:t>
            </a:r>
            <a:r>
              <a:rPr lang="ko-KR" alt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통한 안정적인 학습이 필수적임을 확인</a:t>
            </a:r>
            <a:endParaRPr lang="en-US" altLang="ko-K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3F6C7A-C47C-9232-2024-4CE6A85571E0}"/>
              </a:ext>
            </a:extLst>
          </p:cNvPr>
          <p:cNvSpPr txBox="1"/>
          <p:nvPr/>
        </p:nvSpPr>
        <p:spPr>
          <a:xfrm>
            <a:off x="4007768" y="6350683"/>
            <a:ext cx="7776863" cy="31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ko-K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*Relative Hour</a:t>
            </a:r>
            <a:r>
              <a:rPr lang="ko-KR" alt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의 차이는 실험 환경 </a:t>
            </a:r>
            <a:r>
              <a:rPr lang="en-US" altLang="ko-K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(Hardware)</a:t>
            </a:r>
            <a:r>
              <a:rPr lang="ko-KR" alt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상이함에 기인하므로 절대적인 시간 대신 </a:t>
            </a:r>
            <a:r>
              <a:rPr lang="en-US" altLang="ko-KR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Step</a:t>
            </a:r>
            <a:r>
              <a:rPr lang="ko-KR" alt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기준으로 비교 분석함</a:t>
            </a:r>
            <a:endParaRPr lang="en-US" altLang="ko-KR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그림 3" descr="스크린샷, 텍스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196A59-0E8F-EA33-2594-DC9A7298C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133" y="3527785"/>
            <a:ext cx="3600401" cy="2744822"/>
          </a:xfrm>
          <a:prstGeom prst="rect">
            <a:avLst/>
          </a:prstGeom>
        </p:spPr>
      </p:pic>
      <p:pic>
        <p:nvPicPr>
          <p:cNvPr id="6" name="그림 5" descr="스크린샷, 텍스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19EE85-61EE-FAE7-B5C8-DB8E179DD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468" y="3521018"/>
            <a:ext cx="3664850" cy="275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18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8A85-34F1-3726-BDD3-B469651B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38DF9-88DB-269C-4BD7-2DC79C94F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Results III - Reproducibility &amp; Validation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79F97-8846-2D6E-7A42-D226E8A47599}"/>
              </a:ext>
            </a:extLst>
          </p:cNvPr>
          <p:cNvSpPr txBox="1"/>
          <p:nvPr/>
        </p:nvSpPr>
        <p:spPr>
          <a:xfrm>
            <a:off x="407368" y="901885"/>
            <a:ext cx="11483887" cy="3135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Reproducibility Test (Random Seed)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초기 가중치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(Initialization)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 달라져도 학습 결과가 일관되는지 검증 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서로 다른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개의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에서 모두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Spec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수렴 성공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Implication: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제안하는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알고리즘이 초기 가중치 분포와 무관하게 일관된 최적해를 찾아냄을 입증</a:t>
            </a:r>
            <a:endParaRPr lang="en-US" altLang="ko-K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Extensive Validation Process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단순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Seed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검증을 넘어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Reward Shaping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시행착오 및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비교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(vs SAC)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등 수많은 선행 실행을 통해 검증된 최적의 모델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그림 14" descr="스크린샷, 그래픽 소프트웨어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58DCDF-99F9-0552-F1AC-A582FBA90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67" y="4037167"/>
            <a:ext cx="9793088" cy="242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5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BB855-5496-11F9-DCAF-53038FC0A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5AA693-66A7-6334-C713-B70D4B484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45" y="188640"/>
            <a:ext cx="11590510" cy="692150"/>
          </a:xfrm>
        </p:spPr>
        <p:txBody>
          <a:bodyPr/>
          <a:lstStyle/>
          <a:p>
            <a:r>
              <a:rPr lang="en-US" altLang="ko-K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&amp; Conclusion</a:t>
            </a:r>
            <a:endParaRPr lang="ko-KR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7DBF4-637E-26B0-414C-0214E7FE2DE5}"/>
              </a:ext>
            </a:extLst>
          </p:cNvPr>
          <p:cNvSpPr txBox="1"/>
          <p:nvPr/>
        </p:nvSpPr>
        <p:spPr>
          <a:xfrm>
            <a:off x="407368" y="901885"/>
            <a:ext cx="11483887" cy="5587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PPO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알고리즘을 이용한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180nm 2-Stage Op-Amp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설계 자동화 구현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1,024,000 Step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이내에 모든 목표 사양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(Target Spec)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을 성공적으로 달성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Reward Strategy: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코드에 구현된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Two-Phase Reward (Spec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미달성 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Penalty -&gt;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달성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Power/Area Bonus)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전략이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가 엄격한 환경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(0.8mW)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에서 빠른 수렴을 유도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사람이 직관적으로 찾기 힘든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W/L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비율과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값의 조합을 탐색하여 전력과 면적을 동시에 최소화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</a:t>
            </a: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Algorithm: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향후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SAC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와 같은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Off-policy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알고리즘을 도입하여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Sample Efficiency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를 획기적으로 개선 예정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Clr>
                <a:srgbClr val="FF9801"/>
              </a:buClr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Robustness: PVT (Process, Voltage, Temperature) Corner Simulation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기반의 학습 환경을 구축하여 공정 변동성에 강건한 </a:t>
            </a:r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Robust Design Methodology </a:t>
            </a:r>
            <a:r>
              <a:rPr lang="ko-KR" alt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연구 예정</a:t>
            </a:r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93738"/>
      </p:ext>
    </p:extLst>
  </p:cSld>
  <p:clrMapOvr>
    <a:masterClrMapping/>
  </p:clrMapOvr>
</p:sld>
</file>

<file path=ppt/theme/theme1.xml><?xml version="1.0" encoding="utf-8"?>
<a:theme xmlns:a="http://schemas.openxmlformats.org/drawingml/2006/main" name="sogang">
  <a:themeElements>
    <a:clrScheme name="sogan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ogang">
      <a:majorFont>
        <a:latin typeface="Lucida Sans Unicode"/>
        <a:ea typeface="굴림"/>
        <a:cs typeface=""/>
      </a:majorFont>
      <a:minorFont>
        <a:latin typeface="Lucida Sans Unicode"/>
        <a:ea typeface="굴림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soga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ga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ga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ga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ga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ga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ga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ga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ga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ga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ga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ga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154291</TotalTime>
  <Words>1663</Words>
  <Application>Microsoft Office PowerPoint</Application>
  <PresentationFormat>와이드스크린</PresentationFormat>
  <Paragraphs>199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굴림</vt:lpstr>
      <vt:lpstr>나눔고딕</vt:lpstr>
      <vt:lpstr>휴먼모음T</vt:lpstr>
      <vt:lpstr>Arial</vt:lpstr>
      <vt:lpstr>Calibri</vt:lpstr>
      <vt:lpstr>Lucida Sans Unicode</vt:lpstr>
      <vt:lpstr>Times New Roman</vt:lpstr>
      <vt:lpstr>Wingdings</vt:lpstr>
      <vt:lpstr>sogang</vt:lpstr>
      <vt:lpstr>Deep Reinforcement Learning을 이용한 180nm 2-Stage Op-Amp 자동 최적화</vt:lpstr>
      <vt:lpstr>Executive Summary</vt:lpstr>
      <vt:lpstr>Motivation</vt:lpstr>
      <vt:lpstr>Background</vt:lpstr>
      <vt:lpstr>Circuit Topology &amp; Design Objectives</vt:lpstr>
      <vt:lpstr>RL Formulation: State &amp; Action Space</vt:lpstr>
      <vt:lpstr>RL Formulation: Reward Function</vt:lpstr>
      <vt:lpstr>Algorithm &amp; System Architecture</vt:lpstr>
      <vt:lpstr>Experimental Setup</vt:lpstr>
      <vt:lpstr>Experimental Results I - Learning Curve</vt:lpstr>
      <vt:lpstr>Experimental Results I - Learning Curve</vt:lpstr>
      <vt:lpstr>Experimental Results I - Learning Curve</vt:lpstr>
      <vt:lpstr>Experimental Results II - Hyperparameter Sensitivity</vt:lpstr>
      <vt:lpstr>Experimental Results II - Hyperparameter Sensitivity</vt:lpstr>
      <vt:lpstr>Experimental Results III - Reproducibility &amp; Validation</vt:lpstr>
      <vt:lpstr>Discussion &amp; Conclusion</vt:lpstr>
    </vt:vector>
  </TitlesOfParts>
  <Company>cscad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 packing problem (Dynamic, Mathematical Programming)</dc:title>
  <dc:creator>hjso</dc:creator>
  <cp:lastModifiedBy>원준 유</cp:lastModifiedBy>
  <cp:revision>3602</cp:revision>
  <cp:lastPrinted>2023-04-05T01:31:25Z</cp:lastPrinted>
  <dcterms:created xsi:type="dcterms:W3CDTF">2006-03-31T00:59:00Z</dcterms:created>
  <dcterms:modified xsi:type="dcterms:W3CDTF">2025-12-07T10:22:59Z</dcterms:modified>
</cp:coreProperties>
</file>